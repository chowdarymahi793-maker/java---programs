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61" r:id="rId4"/>
    <p:sldId id="258" r:id="rId5"/>
    <p:sldId id="263" r:id="rId6"/>
    <p:sldId id="259" r:id="rId7"/>
    <p:sldId id="264" r:id="rId8"/>
    <p:sldId id="260" r:id="rId9"/>
    <p:sldId id="265" r:id="rId10"/>
    <p:sldId id="262"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22-09-26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3476CA-421D-4B57-8942-5762D93F1AB2}" type="slidenum">
              <a:rPr lang="en-IN" smtClean="0"/>
              <a:t>10</a:t>
            </a:fld>
            <a:endParaRPr lang="en-IN"/>
          </a:p>
        </p:txBody>
      </p:sp>
    </p:spTree>
    <p:extLst>
      <p:ext uri="{BB962C8B-B14F-4D97-AF65-F5344CB8AC3E}">
        <p14:creationId xmlns:p14="http://schemas.microsoft.com/office/powerpoint/2010/main" val="11091861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F549C3-E12B-4CC2-9FA1-D4C0643B7241}"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CD8D861F-D3C4-EA19-6018-F7CA4E57CB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608474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DE2E10-B9C9-4696-8C2C-567691D9BBFD}"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5842A32A-02B6-2A7C-05F2-94A04AAD61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53826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4BF378-8F16-492D-87B3-963C20ACF441}"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136B971-AE14-6DDD-1DDC-721BE2958E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87699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79781E-9150-4561-9F7C-01394C55C5AE}" type="datetime1">
              <a:rPr lang="en-IN" smtClean="0"/>
              <a:t>22-09-26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1A8133D-FBBE-A30D-3552-004DC7702B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2408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F12896-961F-4F7A-B2DD-D0EFF57BA027}" type="datetime1">
              <a:rPr lang="en-IN" smtClean="0"/>
              <a:t>22-09-26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012AB6-14AF-4351-87AD-D420B05274E1}" type="slidenum">
              <a:rPr lang="en-IN" smtClean="0"/>
              <a:t>‹#›</a:t>
            </a:fld>
            <a:endParaRPr lang="en-IN"/>
          </a:p>
        </p:txBody>
      </p:sp>
      <p:pic>
        <p:nvPicPr>
          <p:cNvPr id="10" name="Picture 9">
            <a:extLst>
              <a:ext uri="{FF2B5EF4-FFF2-40B4-BE49-F238E27FC236}">
                <a16:creationId xmlns:a16="http://schemas.microsoft.com/office/drawing/2014/main" id="{F6A5B92D-AB74-C6DF-27EF-2E4D74BB7C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677769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F51132-6BA4-40BC-AB03-D6B9C4F193FC}" type="datetime1">
              <a:rPr lang="en-IN" smtClean="0"/>
              <a:t>22-09-26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80E773B1-723F-04A9-5B9C-36852EC992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77169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D85D5E-B9E5-4C7E-88B1-43A66A7C3488}" type="datetime1">
              <a:rPr lang="en-IN" smtClean="0"/>
              <a:t>22-09-26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012AB6-14AF-4351-87AD-D420B05274E1}" type="slidenum">
              <a:rPr lang="en-IN" smtClean="0"/>
              <a:t>‹#›</a:t>
            </a:fld>
            <a:endParaRPr lang="en-IN"/>
          </a:p>
        </p:txBody>
      </p:sp>
      <p:pic>
        <p:nvPicPr>
          <p:cNvPr id="5" name="Picture 4">
            <a:extLst>
              <a:ext uri="{FF2B5EF4-FFF2-40B4-BE49-F238E27FC236}">
                <a16:creationId xmlns:a16="http://schemas.microsoft.com/office/drawing/2014/main" id="{4D900907-40D6-3DA1-CEE3-8F059C8C02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49747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BE2A2-8283-469E-B4A1-D6877668ECFE}" type="datetime1">
              <a:rPr lang="en-IN" smtClean="0"/>
              <a:t>22-09-26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B57B3DFE-5F13-D113-59DD-31EA4B6741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733263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FD50A723-EDD4-4822-84BE-4B7F697B4E56}" type="datetime1">
              <a:rPr lang="en-IN" smtClean="0"/>
              <a:t>22-09-26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3748435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0F4BF4-0D93-4F1E-82BB-778F1EDDD45F}" type="datetime1">
              <a:rPr lang="en-IN" smtClean="0"/>
              <a:t>22-09-26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2625706467"/>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385021727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974863404"/>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3065081311"/>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3361487029"/>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2949093612"/>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848764-2CC6-431B-B501-1DF197EE73CC}"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2" name="Picture 1">
            <a:extLst>
              <a:ext uri="{FF2B5EF4-FFF2-40B4-BE49-F238E27FC236}">
                <a16:creationId xmlns:a16="http://schemas.microsoft.com/office/drawing/2014/main" id="{E6C079E4-B17C-B548-3400-14FD3706B0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22634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EEFFA-3959-41FE-A774-B9B27FD8983C}" type="datetime1">
              <a:rPr lang="en-IN" smtClean="0"/>
              <a:t>22-09-26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2747885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30F4BF4-0D93-4F1E-82BB-778F1EDDD45F}" type="datetime1">
              <a:rPr lang="en-IN" smtClean="0"/>
              <a:t>22-09-26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40289508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adyaParuchuri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github.com/Prishamyra" TargetMode="External"/><Relationship Id="rId4" Type="http://schemas.openxmlformats.org/officeDocument/2006/relationships/hyperlink" Target="https://github.com/chowdarymahi793-mak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751012" y="609601"/>
            <a:ext cx="8676222" cy="1676399"/>
          </a:xfrm>
        </p:spPr>
        <p:txBody>
          <a:bodyPr/>
          <a:lstStyle/>
          <a:p>
            <a:r>
              <a:rPr lang="en-IN" dirty="0"/>
              <a:t>Restaurant Order, Kitchen &amp; Billing System</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 Student Name: Aadya Paruchuri    	Roll No: 2620030207</a:t>
            </a:r>
          </a:p>
          <a:p>
            <a:r>
              <a:rPr lang="en-IN" dirty="0"/>
              <a:t> Student Name: Mahitha Chowdary     Roll No :2620040029</a:t>
            </a:r>
          </a:p>
          <a:p>
            <a:r>
              <a:rPr lang="en-IN" dirty="0"/>
              <a:t>Student Name: Prisha B M 	                 </a:t>
            </a:r>
            <a:r>
              <a:rPr lang="en-US" dirty="0"/>
              <a:t>Roll no. :2620030639</a:t>
            </a:r>
            <a:endParaRPr lang="en-IN" dirty="0"/>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22-09-26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1141413" y="609600"/>
            <a:ext cx="9905998" cy="1139190"/>
          </a:xfrm>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1141413" y="1543050"/>
            <a:ext cx="9905998" cy="5566410"/>
          </a:xfrm>
        </p:spPr>
        <p:txBody>
          <a:bodyPr>
            <a:normAutofit fontScale="85000" lnSpcReduction="20000"/>
          </a:bodyPr>
          <a:lstStyle/>
          <a:p>
            <a:r>
              <a:rPr lang="en-IN" b="1" dirty="0">
                <a:effectLst/>
              </a:rPr>
              <a:t>Restaurant Order, Kitchen &amp; Billing System</a:t>
            </a:r>
            <a:endParaRPr lang="en-IN" dirty="0">
              <a:effectLst/>
            </a:endParaRPr>
          </a:p>
          <a:p>
            <a:r>
              <a:rPr lang="en-IN" dirty="0">
                <a:effectLst/>
              </a:rPr>
              <a:t>The </a:t>
            </a:r>
            <a:r>
              <a:rPr lang="en-IN" b="1" dirty="0">
                <a:effectLst/>
              </a:rPr>
              <a:t>Restaurant Order, Kitchen &amp; Billing System</a:t>
            </a:r>
            <a:r>
              <a:rPr lang="en-IN" dirty="0">
                <a:effectLst/>
              </a:rPr>
              <a:t> is a software-based application developed to simplify and manage the major activities involved in restaurant operations. The system provides an organized platform for handling customer orders, communicating order details to the kitchen, tracking food preparation, and generating bills accurately. It reduces the need for manual record-keeping and helps minimize errors in order processing and billing.</a:t>
            </a:r>
          </a:p>
          <a:p>
            <a:r>
              <a:rPr lang="en-IN" dirty="0">
                <a:effectLst/>
              </a:rPr>
              <a:t>The system allows restaurant staff to view the available menu items, select items according to customer requirements, enter quantities, and place orders efficiently. Once an order is placed, the details can be made available to the kitchen staff, allowing them to prepare the required food items in an organized manner. The kitchen can update the status of each order, such as pending, preparing, or completed. This helps serving staff monitor orders and provide timely service to customers.</a:t>
            </a:r>
          </a:p>
          <a:p>
            <a:r>
              <a:rPr lang="en-IN" dirty="0">
                <a:effectLst/>
              </a:rPr>
              <a:t>The billing module calculates the cost of ordered items based on their prices and quantities. It can also include applicable taxes, discounts, and the final payable amount. The system maintains order and billing information, making it easier to retrieve records when required.</a:t>
            </a:r>
          </a:p>
          <a:p>
            <a:r>
              <a:rPr lang="en-IN" dirty="0">
                <a:effectLst/>
              </a:rPr>
              <a:t>Overall, the Restaurant Order, Kitchen &amp; Billing System improves operational efficiency, reduces communication gaps, saves time, and increases billing accuracy. By integrating ordering, kitchen management, and billing into one system, it provides a convenient and reliable solution for modern restaurants. The system can also be enhanced in the future with features such as online ordering, digital payments, customer management, inventory tracking, and sales reports.</a:t>
            </a:r>
          </a:p>
          <a:p>
            <a:endParaRPr lang="en-IN" dirty="0"/>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a:xfrm flipV="1">
            <a:off x="8837612" y="7932420"/>
            <a:ext cx="1600200" cy="674370"/>
          </a:xfrm>
        </p:spPr>
        <p:txBody>
          <a:bodyPr/>
          <a:lstStyle/>
          <a:p>
            <a:endParaRPr lang="en-IN" dirty="0"/>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141413" y="148590"/>
            <a:ext cx="9905998" cy="1817370"/>
          </a:xfrm>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a:xfrm>
            <a:off x="1141413" y="1965960"/>
            <a:ext cx="9905998" cy="4594859"/>
          </a:xfrm>
        </p:spPr>
        <p:txBody>
          <a:bodyPr>
            <a:normAutofit/>
          </a:bodyPr>
          <a:lstStyle/>
          <a:p>
            <a:r>
              <a:rPr lang="en-IN" dirty="0">
                <a:effectLst/>
              </a:rPr>
              <a:t>The </a:t>
            </a:r>
            <a:r>
              <a:rPr lang="en-IN" b="1" dirty="0">
                <a:effectLst/>
              </a:rPr>
              <a:t>Restaurant Order, Kitchen &amp; Billing System</a:t>
            </a:r>
            <a:r>
              <a:rPr lang="en-IN" dirty="0">
                <a:effectLst/>
              </a:rPr>
              <a:t> problem statement is about simulating how a restaurant works using Java programming concepts. The system begins with a menu where customers can select food items and specify the quantity they want. Once the order is placed, the kitchen section of the program processes it by displaying a message that the food is being prepared. After that, the billing system calculates the total cost by multiplying the price of the item with the quantity, applies discounts if the bill crosses a certain limit, and then generates a final payable amount. Finally, the program prints a neat bill summary that includes the customer’s name, the item ordered, the quantity, the total amount, any discount applied, and the final bill. In short, this problem statement combines ordering, kitchen processing, and billing into one flow, making it a practical example of how control flow, methods, recursion, and arrays can be applied in real-life scenarios.</a:t>
            </a:r>
            <a:endParaRPr lang="en-IN" dirty="0"/>
          </a:p>
          <a:p>
            <a:endParaRPr lang="en-IN" dirty="0"/>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22-09-26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3564573" y="125730"/>
            <a:ext cx="9905998" cy="1348740"/>
          </a:xfrm>
        </p:spPr>
        <p:txBody>
          <a:bodyPr>
            <a:normAutofit/>
          </a:bodyPr>
          <a:lstStyle/>
          <a:p>
            <a:r>
              <a:rPr lang="en-IN" sz="4400" b="1" u="sng" dirty="0"/>
              <a:t>CO 1 Topics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1141413" y="1177290"/>
            <a:ext cx="9905998" cy="5554979"/>
          </a:xfrm>
        </p:spPr>
        <p:txBody>
          <a:bodyPr/>
          <a:lstStyle/>
          <a:p>
            <a:r>
              <a:rPr lang="en-IN" b="1" dirty="0">
                <a:effectLst/>
              </a:rPr>
              <a:t>1. Class &amp; main Method</a:t>
            </a:r>
            <a:endParaRPr lang="en-IN" dirty="0">
              <a:effectLst/>
            </a:endParaRPr>
          </a:p>
          <a:p>
            <a:pPr lvl="0"/>
            <a:r>
              <a:rPr lang="en-IN" dirty="0">
                <a:effectLst/>
              </a:rPr>
              <a:t>Every Java program starts with a class (</a:t>
            </a:r>
            <a:r>
              <a:rPr lang="en-IN" dirty="0" err="1">
                <a:effectLst/>
              </a:rPr>
              <a:t>RestaurantSystem</a:t>
            </a:r>
            <a:r>
              <a:rPr lang="en-IN" dirty="0">
                <a:effectLst/>
              </a:rPr>
              <a:t>) and the main method.</a:t>
            </a:r>
          </a:p>
          <a:p>
            <a:pPr lvl="0"/>
            <a:r>
              <a:rPr lang="en-IN" dirty="0">
                <a:effectLst/>
              </a:rPr>
              <a:t>public static void main(String[] </a:t>
            </a:r>
            <a:r>
              <a:rPr lang="en-IN" dirty="0" err="1">
                <a:effectLst/>
              </a:rPr>
              <a:t>args</a:t>
            </a:r>
            <a:r>
              <a:rPr lang="en-IN" dirty="0">
                <a:effectLst/>
              </a:rPr>
              <a:t>) is the entry point of the program.</a:t>
            </a:r>
          </a:p>
          <a:p>
            <a:r>
              <a:rPr lang="en-IN" b="1" dirty="0">
                <a:effectLst/>
              </a:rPr>
              <a:t>2. Input Handling</a:t>
            </a:r>
            <a:endParaRPr lang="en-IN" dirty="0">
              <a:effectLst/>
            </a:endParaRPr>
          </a:p>
          <a:p>
            <a:pPr lvl="0"/>
            <a:r>
              <a:rPr lang="en-IN" dirty="0">
                <a:effectLst/>
              </a:rPr>
              <a:t>Scanner</a:t>
            </a:r>
            <a:r>
              <a:rPr lang="en-IN" b="1" dirty="0">
                <a:effectLst/>
              </a:rPr>
              <a:t> class</a:t>
            </a:r>
            <a:r>
              <a:rPr lang="en-IN" dirty="0">
                <a:effectLst/>
              </a:rPr>
              <a:t> is used to take input from the user (name, item number, quantity).</a:t>
            </a:r>
          </a:p>
          <a:p>
            <a:r>
              <a:rPr lang="en-IN" b="1" dirty="0">
                <a:effectLst/>
              </a:rPr>
              <a:t>3. Variables &amp; Data Types</a:t>
            </a:r>
            <a:endParaRPr lang="en-IN" dirty="0">
              <a:effectLst/>
            </a:endParaRPr>
          </a:p>
          <a:p>
            <a:pPr lvl="0"/>
            <a:r>
              <a:rPr lang="en-IN" dirty="0">
                <a:effectLst/>
              </a:rPr>
              <a:t>String → for customer name and item name.</a:t>
            </a:r>
          </a:p>
          <a:p>
            <a:pPr lvl="0"/>
            <a:r>
              <a:rPr lang="en-IN" dirty="0">
                <a:effectLst/>
              </a:rPr>
              <a:t>int → for item number, quantity, price, total, discount, final amount.</a:t>
            </a:r>
          </a:p>
          <a:p>
            <a:r>
              <a:rPr lang="en-IN" b="1" dirty="0">
                <a:effectLst/>
              </a:rPr>
              <a:t>4. Conditional Statements</a:t>
            </a:r>
            <a:endParaRPr lang="en-IN" dirty="0">
              <a:effectLst/>
            </a:endParaRPr>
          </a:p>
          <a:p>
            <a:pPr lvl="0"/>
            <a:r>
              <a:rPr lang="en-IN" dirty="0">
                <a:effectLst/>
              </a:rPr>
              <a:t>if-else is used to check which item the customer selected.</a:t>
            </a:r>
          </a:p>
          <a:p>
            <a:pPr marL="0" indent="0">
              <a:buNone/>
            </a:pPr>
            <a:endParaRPr lang="en-IN"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22-09-26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C404-7A3A-C9E8-2950-A5ABAF8D01C6}"/>
              </a:ext>
            </a:extLst>
          </p:cNvPr>
          <p:cNvSpPr>
            <a:spLocks noGrp="1"/>
          </p:cNvSpPr>
          <p:nvPr>
            <p:ph type="title"/>
          </p:nvPr>
        </p:nvSpPr>
        <p:spPr>
          <a:xfrm>
            <a:off x="11093128" y="8721090"/>
            <a:ext cx="1098872" cy="6858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1A71C37-BE89-FB84-EE69-B414352C35D4}"/>
              </a:ext>
            </a:extLst>
          </p:cNvPr>
          <p:cNvSpPr>
            <a:spLocks noGrp="1"/>
          </p:cNvSpPr>
          <p:nvPr>
            <p:ph idx="1"/>
          </p:nvPr>
        </p:nvSpPr>
        <p:spPr>
          <a:xfrm>
            <a:off x="1141413" y="834390"/>
            <a:ext cx="9905998" cy="4956810"/>
          </a:xfrm>
        </p:spPr>
        <p:txBody>
          <a:bodyPr>
            <a:normAutofit/>
          </a:bodyPr>
          <a:lstStyle/>
          <a:p>
            <a:r>
              <a:rPr lang="en-IN" b="1" dirty="0">
                <a:effectLst/>
              </a:rPr>
              <a:t>5. Arithmetic Operations</a:t>
            </a:r>
            <a:endParaRPr lang="en-IN" dirty="0">
              <a:effectLst/>
            </a:endParaRPr>
          </a:p>
          <a:p>
            <a:pPr lvl="0"/>
            <a:r>
              <a:rPr lang="en-IN" dirty="0">
                <a:effectLst/>
              </a:rPr>
              <a:t>Multiplication (price * qty) → to calculate total amount.</a:t>
            </a:r>
          </a:p>
          <a:p>
            <a:pPr lvl="0"/>
            <a:r>
              <a:rPr lang="en-IN" dirty="0">
                <a:effectLst/>
              </a:rPr>
              <a:t>Subtraction (total - discount) → to calculate final payable amount.</a:t>
            </a:r>
          </a:p>
          <a:p>
            <a:r>
              <a:rPr lang="en-IN" b="1" dirty="0">
                <a:effectLst/>
              </a:rPr>
              <a:t>6. Decision Making (Discount Logic)</a:t>
            </a:r>
            <a:endParaRPr lang="en-IN" dirty="0">
              <a:effectLst/>
            </a:endParaRPr>
          </a:p>
          <a:p>
            <a:pPr lvl="0"/>
            <a:r>
              <a:rPr lang="en-IN" dirty="0">
                <a:effectLst/>
              </a:rPr>
              <a:t>Simple condition to apply discount if total ≥ 500.</a:t>
            </a:r>
          </a:p>
          <a:p>
            <a:r>
              <a:rPr lang="en-IN" b="1" dirty="0">
                <a:effectLst/>
              </a:rPr>
              <a:t>7. Output Statements</a:t>
            </a:r>
            <a:endParaRPr lang="en-IN" dirty="0">
              <a:effectLst/>
            </a:endParaRPr>
          </a:p>
          <a:p>
            <a:pPr lvl="0"/>
            <a:r>
              <a:rPr lang="en-IN" dirty="0" err="1">
                <a:effectLst/>
              </a:rPr>
              <a:t>System.out.println</a:t>
            </a:r>
            <a:r>
              <a:rPr lang="en-IN" dirty="0">
                <a:effectLst/>
              </a:rPr>
              <a:t>() is used to display the menu, bill, and order status.</a:t>
            </a:r>
          </a:p>
          <a:p>
            <a:endParaRPr lang="en-IN" dirty="0">
              <a:effectLst/>
            </a:endParaRPr>
          </a:p>
          <a:p>
            <a:endParaRPr lang="en-IN" dirty="0"/>
          </a:p>
        </p:txBody>
      </p:sp>
      <p:sp>
        <p:nvSpPr>
          <p:cNvPr id="4" name="Date Placeholder 3">
            <a:extLst>
              <a:ext uri="{FF2B5EF4-FFF2-40B4-BE49-F238E27FC236}">
                <a16:creationId xmlns:a16="http://schemas.microsoft.com/office/drawing/2014/main" id="{04AE0470-57D0-FD61-A68F-BEAE836234C7}"/>
              </a:ext>
            </a:extLst>
          </p:cNvPr>
          <p:cNvSpPr>
            <a:spLocks noGrp="1"/>
          </p:cNvSpPr>
          <p:nvPr>
            <p:ph type="dt" sz="half" idx="10"/>
          </p:nvPr>
        </p:nvSpPr>
        <p:spPr/>
        <p:txBody>
          <a:bodyPr/>
          <a:lstStyle/>
          <a:p>
            <a:fld id="{07DE2E10-B9C9-4696-8C2C-567691D9BBFD}" type="datetime1">
              <a:rPr lang="en-IN" smtClean="0"/>
              <a:t>22-09-26</a:t>
            </a:fld>
            <a:endParaRPr lang="en-IN"/>
          </a:p>
        </p:txBody>
      </p:sp>
      <p:sp>
        <p:nvSpPr>
          <p:cNvPr id="5" name="Slide Number Placeholder 4">
            <a:extLst>
              <a:ext uri="{FF2B5EF4-FFF2-40B4-BE49-F238E27FC236}">
                <a16:creationId xmlns:a16="http://schemas.microsoft.com/office/drawing/2014/main" id="{26174179-C3ED-1450-A69F-3F1349A617B4}"/>
              </a:ext>
            </a:extLst>
          </p:cNvPr>
          <p:cNvSpPr>
            <a:spLocks noGrp="1"/>
          </p:cNvSpPr>
          <p:nvPr>
            <p:ph type="sldNum" sz="quarter" idx="12"/>
          </p:nvPr>
        </p:nvSpPr>
        <p:spPr/>
        <p:txBody>
          <a:bodyPr/>
          <a:lstStyle/>
          <a:p>
            <a:fld id="{CB012AB6-14AF-4351-87AD-D420B05274E1}" type="slidenum">
              <a:rPr lang="en-IN" smtClean="0"/>
              <a:t>5</a:t>
            </a:fld>
            <a:endParaRPr lang="en-IN"/>
          </a:p>
        </p:txBody>
      </p:sp>
    </p:spTree>
    <p:extLst>
      <p:ext uri="{BB962C8B-B14F-4D97-AF65-F5344CB8AC3E}">
        <p14:creationId xmlns:p14="http://schemas.microsoft.com/office/powerpoint/2010/main" val="146090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4364673" y="125730"/>
            <a:ext cx="5579427" cy="1645920"/>
          </a:xfrm>
        </p:spPr>
        <p:txBody>
          <a:bodyPr/>
          <a:lstStyle/>
          <a:p>
            <a:r>
              <a:rPr lang="en-IN" dirty="0"/>
              <a:t>Co 2 TOPICS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1141413" y="1383030"/>
            <a:ext cx="9905998" cy="4766309"/>
          </a:xfrm>
        </p:spPr>
        <p:txBody>
          <a:bodyPr>
            <a:normAutofit/>
          </a:bodyPr>
          <a:lstStyle/>
          <a:p>
            <a:pPr marL="0" indent="0">
              <a:buNone/>
            </a:pPr>
            <a:r>
              <a:rPr lang="en-IN" b="1" dirty="0">
                <a:effectLst/>
              </a:rPr>
              <a:t>1. Class &amp; main Method</a:t>
            </a:r>
            <a:endParaRPr lang="en-IN" dirty="0">
              <a:effectLst/>
            </a:endParaRPr>
          </a:p>
          <a:p>
            <a:pPr lvl="0"/>
            <a:r>
              <a:rPr lang="en-IN" dirty="0">
                <a:effectLst/>
              </a:rPr>
              <a:t>Every Java program starts with a class (</a:t>
            </a:r>
            <a:r>
              <a:rPr lang="en-IN" dirty="0" err="1">
                <a:effectLst/>
              </a:rPr>
              <a:t>RestaurantSystem</a:t>
            </a:r>
            <a:r>
              <a:rPr lang="en-IN" dirty="0">
                <a:effectLst/>
              </a:rPr>
              <a:t>) and the main method.</a:t>
            </a:r>
          </a:p>
          <a:p>
            <a:pPr lvl="0"/>
            <a:r>
              <a:rPr lang="en-IN" dirty="0">
                <a:effectLst/>
              </a:rPr>
              <a:t>public static void main(String[] </a:t>
            </a:r>
            <a:r>
              <a:rPr lang="en-IN" dirty="0" err="1">
                <a:effectLst/>
              </a:rPr>
              <a:t>args</a:t>
            </a:r>
            <a:r>
              <a:rPr lang="en-IN" dirty="0">
                <a:effectLst/>
              </a:rPr>
              <a:t>) is the entry point of the program.</a:t>
            </a:r>
          </a:p>
          <a:p>
            <a:pPr marL="0" indent="0">
              <a:buNone/>
            </a:pPr>
            <a:r>
              <a:rPr lang="en-IN" b="1" dirty="0">
                <a:effectLst/>
              </a:rPr>
              <a:t>2. Input Handling</a:t>
            </a:r>
            <a:endParaRPr lang="en-IN" dirty="0">
              <a:effectLst/>
            </a:endParaRPr>
          </a:p>
          <a:p>
            <a:pPr lvl="0"/>
            <a:r>
              <a:rPr lang="en-IN" dirty="0">
                <a:effectLst/>
              </a:rPr>
              <a:t>Scanner</a:t>
            </a:r>
            <a:r>
              <a:rPr lang="en-IN" b="1" dirty="0">
                <a:effectLst/>
              </a:rPr>
              <a:t> class</a:t>
            </a:r>
            <a:r>
              <a:rPr lang="en-IN" dirty="0">
                <a:effectLst/>
              </a:rPr>
              <a:t> is used to take input from the user (name, item number, quantity).</a:t>
            </a:r>
          </a:p>
          <a:p>
            <a:pPr marL="0" indent="0">
              <a:buNone/>
            </a:pPr>
            <a:r>
              <a:rPr lang="en-IN" b="1" dirty="0">
                <a:effectLst/>
              </a:rPr>
              <a:t>3. Variables &amp; Data Types</a:t>
            </a:r>
            <a:endParaRPr lang="en-IN" dirty="0">
              <a:effectLst/>
            </a:endParaRPr>
          </a:p>
          <a:p>
            <a:pPr lvl="0"/>
            <a:r>
              <a:rPr lang="en-IN" dirty="0">
                <a:effectLst/>
              </a:rPr>
              <a:t>String → for customer name and item name.</a:t>
            </a:r>
          </a:p>
          <a:p>
            <a:pPr lvl="0"/>
            <a:r>
              <a:rPr lang="en-IN" dirty="0">
                <a:effectLst/>
              </a:rPr>
              <a:t>int → for item number, quantity, price, total, discount, final amount.</a:t>
            </a:r>
          </a:p>
          <a:p>
            <a:pPr marL="0" indent="0">
              <a:buNone/>
            </a:pPr>
            <a:r>
              <a:rPr lang="en-IN" b="1" dirty="0">
                <a:effectLst/>
              </a:rPr>
              <a:t>4. Conditional Statements</a:t>
            </a:r>
            <a:endParaRPr lang="en-IN" dirty="0">
              <a:effectLst/>
            </a:endParaRPr>
          </a:p>
          <a:p>
            <a:pPr lvl="0"/>
            <a:r>
              <a:rPr lang="en-IN" dirty="0">
                <a:effectLst/>
              </a:rPr>
              <a:t>if-else is used to check which item the customer selected.</a:t>
            </a:r>
          </a:p>
          <a:p>
            <a:endParaRPr lang="en-IN" dirty="0"/>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22-09-26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6</a:t>
            </a:fld>
            <a:endParaRPr lang="en-IN"/>
          </a:p>
        </p:txBody>
      </p:sp>
    </p:spTree>
    <p:extLst>
      <p:ext uri="{BB962C8B-B14F-4D97-AF65-F5344CB8AC3E}">
        <p14:creationId xmlns:p14="http://schemas.microsoft.com/office/powerpoint/2010/main" val="417811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640DF-3B13-E29A-5E31-EEF3DCF3DA77}"/>
              </a:ext>
            </a:extLst>
          </p:cNvPr>
          <p:cNvSpPr>
            <a:spLocks noGrp="1"/>
          </p:cNvSpPr>
          <p:nvPr>
            <p:ph idx="1"/>
          </p:nvPr>
        </p:nvSpPr>
        <p:spPr>
          <a:xfrm>
            <a:off x="1141413" y="811530"/>
            <a:ext cx="9905998" cy="5669279"/>
          </a:xfrm>
        </p:spPr>
        <p:txBody>
          <a:bodyPr/>
          <a:lstStyle/>
          <a:p>
            <a:pPr marL="0" indent="0">
              <a:buNone/>
            </a:pPr>
            <a:r>
              <a:rPr lang="en-IN" b="1" dirty="0">
                <a:effectLst/>
              </a:rPr>
              <a:t>5. Arithmetic Operations</a:t>
            </a:r>
            <a:endParaRPr lang="en-IN" dirty="0">
              <a:effectLst/>
            </a:endParaRPr>
          </a:p>
          <a:p>
            <a:pPr lvl="0"/>
            <a:r>
              <a:rPr lang="en-IN" dirty="0">
                <a:effectLst/>
              </a:rPr>
              <a:t>Multiplication (price * qty) → to calculate total amount.</a:t>
            </a:r>
          </a:p>
          <a:p>
            <a:pPr lvl="0"/>
            <a:r>
              <a:rPr lang="en-IN" dirty="0">
                <a:effectLst/>
              </a:rPr>
              <a:t>Subtraction (total - discount) → to calculate final payable amount.</a:t>
            </a:r>
          </a:p>
          <a:p>
            <a:pPr marL="0" indent="0">
              <a:buNone/>
            </a:pPr>
            <a:r>
              <a:rPr lang="en-IN" b="1" dirty="0">
                <a:effectLst/>
              </a:rPr>
              <a:t>6. Decision Making (Discount Logic)</a:t>
            </a:r>
            <a:endParaRPr lang="en-IN" dirty="0">
              <a:effectLst/>
            </a:endParaRPr>
          </a:p>
          <a:p>
            <a:pPr lvl="0"/>
            <a:r>
              <a:rPr lang="en-IN" dirty="0">
                <a:effectLst/>
              </a:rPr>
              <a:t>Simple condition to apply discount if total ≥ 500.</a:t>
            </a:r>
          </a:p>
          <a:p>
            <a:pPr marL="0" indent="0">
              <a:buNone/>
            </a:pPr>
            <a:r>
              <a:rPr lang="en-IN" b="1" dirty="0">
                <a:effectLst/>
              </a:rPr>
              <a:t>7. Output Statements</a:t>
            </a:r>
            <a:endParaRPr lang="en-IN" dirty="0">
              <a:effectLst/>
            </a:endParaRPr>
          </a:p>
          <a:p>
            <a:pPr lvl="0"/>
            <a:r>
              <a:rPr lang="en-IN" dirty="0" err="1">
                <a:effectLst/>
              </a:rPr>
              <a:t>System.out.println</a:t>
            </a:r>
            <a:r>
              <a:rPr lang="en-IN" dirty="0">
                <a:effectLst/>
              </a:rPr>
              <a:t>() is used to display the menu, bill, and order status.</a:t>
            </a:r>
          </a:p>
          <a:p>
            <a:endParaRPr lang="en-IN" dirty="0"/>
          </a:p>
        </p:txBody>
      </p:sp>
      <p:sp>
        <p:nvSpPr>
          <p:cNvPr id="4" name="Date Placeholder 3">
            <a:extLst>
              <a:ext uri="{FF2B5EF4-FFF2-40B4-BE49-F238E27FC236}">
                <a16:creationId xmlns:a16="http://schemas.microsoft.com/office/drawing/2014/main" id="{843D5F0B-5175-3A80-75CA-2ACD822D6E04}"/>
              </a:ext>
            </a:extLst>
          </p:cNvPr>
          <p:cNvSpPr>
            <a:spLocks noGrp="1"/>
          </p:cNvSpPr>
          <p:nvPr>
            <p:ph type="dt" sz="half" idx="10"/>
          </p:nvPr>
        </p:nvSpPr>
        <p:spPr/>
        <p:txBody>
          <a:bodyPr/>
          <a:lstStyle/>
          <a:p>
            <a:fld id="{07DE2E10-B9C9-4696-8C2C-567691D9BBFD}" type="datetime1">
              <a:rPr lang="en-IN" smtClean="0"/>
              <a:t>22-09-26</a:t>
            </a:fld>
            <a:endParaRPr lang="en-IN"/>
          </a:p>
        </p:txBody>
      </p:sp>
      <p:sp>
        <p:nvSpPr>
          <p:cNvPr id="5" name="Slide Number Placeholder 4">
            <a:extLst>
              <a:ext uri="{FF2B5EF4-FFF2-40B4-BE49-F238E27FC236}">
                <a16:creationId xmlns:a16="http://schemas.microsoft.com/office/drawing/2014/main" id="{435DFC14-CE4F-99BF-F9CE-26AA344497D0}"/>
              </a:ext>
            </a:extLst>
          </p:cNvPr>
          <p:cNvSpPr>
            <a:spLocks noGrp="1"/>
          </p:cNvSpPr>
          <p:nvPr>
            <p:ph type="sldNum" sz="quarter" idx="12"/>
          </p:nvPr>
        </p:nvSpPr>
        <p:spPr/>
        <p:txBody>
          <a:bodyPr/>
          <a:lstStyle/>
          <a:p>
            <a:fld id="{CB012AB6-14AF-4351-87AD-D420B05274E1}" type="slidenum">
              <a:rPr lang="en-IN" smtClean="0"/>
              <a:t>7</a:t>
            </a:fld>
            <a:endParaRPr lang="en-IN"/>
          </a:p>
        </p:txBody>
      </p:sp>
    </p:spTree>
    <p:extLst>
      <p:ext uri="{BB962C8B-B14F-4D97-AF65-F5344CB8AC3E}">
        <p14:creationId xmlns:p14="http://schemas.microsoft.com/office/powerpoint/2010/main" val="1244455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4491989" y="278130"/>
            <a:ext cx="3463291" cy="1024890"/>
          </a:xfrm>
        </p:spPr>
        <p:txBody>
          <a:bodyPr/>
          <a:lstStyle/>
          <a:p>
            <a:r>
              <a:rPr lang="en-IN" dirty="0"/>
              <a:t>CO 3 Topics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1141413" y="1405891"/>
            <a:ext cx="9905998" cy="4385310"/>
          </a:xfrm>
        </p:spPr>
        <p:txBody>
          <a:bodyPr>
            <a:normAutofit lnSpcReduction="10000"/>
          </a:bodyPr>
          <a:lstStyle/>
          <a:p>
            <a:pPr marL="0" indent="0">
              <a:buNone/>
            </a:pPr>
            <a:r>
              <a:rPr lang="en-IN" dirty="0">
                <a:effectLst/>
              </a:rPr>
              <a:t>1.  </a:t>
            </a:r>
            <a:r>
              <a:rPr lang="en-IN" b="1" dirty="0">
                <a:effectLst/>
              </a:rPr>
              <a:t>Modular Programming</a:t>
            </a:r>
            <a:endParaRPr lang="en-IN" dirty="0">
              <a:effectLst/>
            </a:endParaRPr>
          </a:p>
          <a:p>
            <a:pPr marL="0" indent="0">
              <a:buNone/>
            </a:pPr>
            <a:r>
              <a:rPr lang="en-IN" dirty="0">
                <a:effectLst/>
              </a:rPr>
              <a:t>2. </a:t>
            </a:r>
            <a:r>
              <a:rPr lang="en-IN" b="1" dirty="0">
                <a:effectLst/>
              </a:rPr>
              <a:t>Methods</a:t>
            </a:r>
            <a:endParaRPr lang="en-IN" dirty="0">
              <a:effectLst/>
            </a:endParaRPr>
          </a:p>
          <a:p>
            <a:pPr lvl="0"/>
            <a:r>
              <a:rPr lang="en-IN" dirty="0">
                <a:effectLst/>
              </a:rPr>
              <a:t>Method definition</a:t>
            </a:r>
          </a:p>
          <a:p>
            <a:pPr lvl="0"/>
            <a:r>
              <a:rPr lang="en-IN" dirty="0">
                <a:effectLst/>
              </a:rPr>
              <a:t>Method invocation</a:t>
            </a:r>
          </a:p>
          <a:p>
            <a:pPr lvl="0"/>
            <a:r>
              <a:rPr lang="en-IN" dirty="0">
                <a:effectLst/>
              </a:rPr>
              <a:t>Parameter passing</a:t>
            </a:r>
          </a:p>
          <a:p>
            <a:pPr lvl="0"/>
            <a:r>
              <a:rPr lang="en-IN" dirty="0">
                <a:effectLst/>
              </a:rPr>
              <a:t>Return values</a:t>
            </a:r>
          </a:p>
          <a:p>
            <a:pPr marL="457200" indent="-457200">
              <a:buAutoNum type="arabicPeriod" startAt="3"/>
            </a:pPr>
            <a:r>
              <a:rPr lang="en-IN" b="1" dirty="0">
                <a:effectLst/>
              </a:rPr>
              <a:t>Method Overloading</a:t>
            </a:r>
          </a:p>
          <a:p>
            <a:pPr marL="0" indent="0">
              <a:buNone/>
            </a:pPr>
            <a:r>
              <a:rPr lang="en-IN" dirty="0">
                <a:effectLst/>
              </a:rPr>
              <a:t>4.     </a:t>
            </a:r>
            <a:r>
              <a:rPr lang="en-IN" b="1" dirty="0">
                <a:effectLst/>
              </a:rPr>
              <a:t>Recursion</a:t>
            </a:r>
            <a:endParaRPr lang="en-IN" dirty="0">
              <a:effectLst/>
            </a:endParaRPr>
          </a:p>
          <a:p>
            <a:pPr lvl="0"/>
            <a:r>
              <a:rPr lang="en-IN" dirty="0">
                <a:effectLst/>
              </a:rPr>
              <a:t>Base case</a:t>
            </a:r>
          </a:p>
          <a:p>
            <a:pPr lvl="0"/>
            <a:r>
              <a:rPr lang="en-IN" dirty="0">
                <a:effectLst/>
              </a:rPr>
              <a:t>Recursive case</a:t>
            </a:r>
          </a:p>
          <a:p>
            <a:pPr marL="0" indent="0">
              <a:buNone/>
            </a:pPr>
            <a:endParaRPr lang="en-IN" dirty="0"/>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22-09-26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8</a:t>
            </a:fld>
            <a:endParaRPr lang="en-IN"/>
          </a:p>
        </p:txBody>
      </p:sp>
    </p:spTree>
    <p:extLst>
      <p:ext uri="{BB962C8B-B14F-4D97-AF65-F5344CB8AC3E}">
        <p14:creationId xmlns:p14="http://schemas.microsoft.com/office/powerpoint/2010/main" val="1869875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09954-1F47-90F7-C315-5A3CC36B75E0}"/>
              </a:ext>
            </a:extLst>
          </p:cNvPr>
          <p:cNvSpPr>
            <a:spLocks noGrp="1"/>
          </p:cNvSpPr>
          <p:nvPr>
            <p:ph idx="1"/>
          </p:nvPr>
        </p:nvSpPr>
        <p:spPr>
          <a:xfrm>
            <a:off x="1141413" y="1108711"/>
            <a:ext cx="9905998" cy="4682490"/>
          </a:xfrm>
        </p:spPr>
        <p:txBody>
          <a:bodyPr>
            <a:normAutofit/>
          </a:bodyPr>
          <a:lstStyle/>
          <a:p>
            <a:pPr lvl="0"/>
            <a:r>
              <a:rPr lang="en-IN" b="1" dirty="0">
                <a:effectLst/>
              </a:rPr>
              <a:t>Arrays</a:t>
            </a:r>
            <a:endParaRPr lang="en-IN" dirty="0">
              <a:effectLst/>
            </a:endParaRPr>
          </a:p>
          <a:p>
            <a:pPr lvl="0"/>
            <a:r>
              <a:rPr lang="en-IN" dirty="0">
                <a:effectLst/>
              </a:rPr>
              <a:t>1D array traversal</a:t>
            </a:r>
          </a:p>
          <a:p>
            <a:pPr lvl="0"/>
            <a:r>
              <a:rPr lang="en-IN" dirty="0">
                <a:effectLst/>
              </a:rPr>
              <a:t>Summation</a:t>
            </a:r>
          </a:p>
          <a:p>
            <a:pPr lvl="0"/>
            <a:r>
              <a:rPr lang="en-IN" dirty="0">
                <a:effectLst/>
              </a:rPr>
              <a:t>Average</a:t>
            </a:r>
          </a:p>
          <a:p>
            <a:pPr lvl="0"/>
            <a:r>
              <a:rPr lang="en-IN" dirty="0">
                <a:effectLst/>
              </a:rPr>
              <a:t>Counting techniques</a:t>
            </a:r>
          </a:p>
          <a:p>
            <a:pPr lvl="0"/>
            <a:r>
              <a:rPr lang="en-IN" b="1" dirty="0">
                <a:effectLst/>
              </a:rPr>
              <a:t>Enhanced for-each loop</a:t>
            </a:r>
            <a:endParaRPr lang="en-IN" dirty="0">
              <a:effectLst/>
            </a:endParaRPr>
          </a:p>
          <a:p>
            <a:pPr lvl="0"/>
            <a:r>
              <a:rPr lang="en-IN" dirty="0">
                <a:effectLst/>
              </a:rPr>
              <a:t> </a:t>
            </a:r>
            <a:r>
              <a:rPr lang="en-IN" b="1" dirty="0">
                <a:effectLst/>
              </a:rPr>
              <a:t>2D Arrays</a:t>
            </a:r>
            <a:endParaRPr lang="en-IN" dirty="0">
              <a:effectLst/>
            </a:endParaRPr>
          </a:p>
          <a:p>
            <a:pPr lvl="0"/>
            <a:r>
              <a:rPr lang="en-IN" dirty="0">
                <a:effectLst/>
              </a:rPr>
              <a:t>Matrix arithmetic</a:t>
            </a:r>
          </a:p>
          <a:p>
            <a:pPr marL="0" indent="0">
              <a:buNone/>
            </a:pPr>
            <a:endParaRPr lang="en-IN" dirty="0">
              <a:effectLst/>
            </a:endParaRPr>
          </a:p>
          <a:p>
            <a:endParaRPr lang="en-IN" dirty="0"/>
          </a:p>
        </p:txBody>
      </p:sp>
      <p:sp>
        <p:nvSpPr>
          <p:cNvPr id="4" name="Date Placeholder 3">
            <a:extLst>
              <a:ext uri="{FF2B5EF4-FFF2-40B4-BE49-F238E27FC236}">
                <a16:creationId xmlns:a16="http://schemas.microsoft.com/office/drawing/2014/main" id="{D81DD839-3A36-BC8A-CC5F-D478BC7FBBA0}"/>
              </a:ext>
            </a:extLst>
          </p:cNvPr>
          <p:cNvSpPr>
            <a:spLocks noGrp="1"/>
          </p:cNvSpPr>
          <p:nvPr>
            <p:ph type="dt" sz="half" idx="10"/>
          </p:nvPr>
        </p:nvSpPr>
        <p:spPr/>
        <p:txBody>
          <a:bodyPr/>
          <a:lstStyle/>
          <a:p>
            <a:fld id="{07DE2E10-B9C9-4696-8C2C-567691D9BBFD}" type="datetime1">
              <a:rPr lang="en-IN" smtClean="0"/>
              <a:t>22-09-26</a:t>
            </a:fld>
            <a:endParaRPr lang="en-IN"/>
          </a:p>
        </p:txBody>
      </p:sp>
      <p:sp>
        <p:nvSpPr>
          <p:cNvPr id="5" name="Slide Number Placeholder 4">
            <a:extLst>
              <a:ext uri="{FF2B5EF4-FFF2-40B4-BE49-F238E27FC236}">
                <a16:creationId xmlns:a16="http://schemas.microsoft.com/office/drawing/2014/main" id="{9D34208A-B7DB-E210-5EB0-15FA47AB7D8A}"/>
              </a:ext>
            </a:extLst>
          </p:cNvPr>
          <p:cNvSpPr>
            <a:spLocks noGrp="1"/>
          </p:cNvSpPr>
          <p:nvPr>
            <p:ph type="sldNum" sz="quarter" idx="12"/>
          </p:nvPr>
        </p:nvSpPr>
        <p:spPr/>
        <p:txBody>
          <a:bodyPr/>
          <a:lstStyle/>
          <a:p>
            <a:fld id="{CB012AB6-14AF-4351-87AD-D420B05274E1}" type="slidenum">
              <a:rPr lang="en-IN" smtClean="0"/>
              <a:t>9</a:t>
            </a:fld>
            <a:endParaRPr lang="en-IN"/>
          </a:p>
        </p:txBody>
      </p:sp>
    </p:spTree>
    <p:extLst>
      <p:ext uri="{BB962C8B-B14F-4D97-AF65-F5344CB8AC3E}">
        <p14:creationId xmlns:p14="http://schemas.microsoft.com/office/powerpoint/2010/main" val="250864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a:xfrm>
            <a:off x="1141413" y="2666999"/>
            <a:ext cx="9905998" cy="1356361"/>
          </a:xfrm>
        </p:spPr>
        <p:txBody>
          <a:bodyPr/>
          <a:lstStyle/>
          <a:p>
            <a:endParaRPr lang="en-IN" dirty="0"/>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22-09-26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7" name="TextBox 6">
            <a:extLst>
              <a:ext uri="{FF2B5EF4-FFF2-40B4-BE49-F238E27FC236}">
                <a16:creationId xmlns:a16="http://schemas.microsoft.com/office/drawing/2014/main" id="{671B71AB-6FDF-11FE-64C2-8006BAD3EC6E}"/>
              </a:ext>
            </a:extLst>
          </p:cNvPr>
          <p:cNvSpPr txBox="1"/>
          <p:nvPr/>
        </p:nvSpPr>
        <p:spPr>
          <a:xfrm>
            <a:off x="1714500" y="4834890"/>
            <a:ext cx="6808274" cy="1200329"/>
          </a:xfrm>
          <a:prstGeom prst="rect">
            <a:avLst/>
          </a:prstGeom>
          <a:noFill/>
        </p:spPr>
        <p:txBody>
          <a:bodyPr wrap="none" rtlCol="0">
            <a:spAutoFit/>
          </a:bodyPr>
          <a:lstStyle/>
          <a:p>
            <a:r>
              <a:rPr lang="en-IN" dirty="0"/>
              <a:t>GITHUB LINK : </a:t>
            </a:r>
            <a:r>
              <a:rPr lang="en-IN" dirty="0">
                <a:hlinkClick r:id="rId3"/>
              </a:rPr>
              <a:t>https://github.com/AadyaParuchuri9</a:t>
            </a:r>
            <a:br>
              <a:rPr lang="en-IN" dirty="0"/>
            </a:br>
            <a:r>
              <a:rPr lang="en-IN" dirty="0"/>
              <a:t>                        </a:t>
            </a:r>
            <a:r>
              <a:rPr lang="en-IN" dirty="0">
                <a:hlinkClick r:id="rId4"/>
              </a:rPr>
              <a:t>https://github.com/chowdarymahi793-maker</a:t>
            </a:r>
            <a:endParaRPr lang="en-IN" dirty="0"/>
          </a:p>
          <a:p>
            <a:r>
              <a:rPr lang="en-IN"/>
              <a:t>                        </a:t>
            </a:r>
            <a:r>
              <a:rPr lang="en-IN">
                <a:hlinkClick r:id="rId5"/>
              </a:rPr>
              <a:t>https://github.com/Prishamyra</a:t>
            </a:r>
            <a:endParaRPr lang="en-IN"/>
          </a:p>
          <a:p>
            <a:endParaRPr lang="en-IN"/>
          </a:p>
        </p:txBody>
      </p:sp>
    </p:spTree>
    <p:extLst>
      <p:ext uri="{BB962C8B-B14F-4D97-AF65-F5344CB8AC3E}">
        <p14:creationId xmlns:p14="http://schemas.microsoft.com/office/powerpoint/2010/main" val="139677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5897-9B60-0873-9612-61109AA02820}"/>
              </a:ext>
            </a:extLst>
          </p:cNvPr>
          <p:cNvSpPr>
            <a:spLocks noGrp="1"/>
          </p:cNvSpPr>
          <p:nvPr>
            <p:ph type="title"/>
          </p:nvPr>
        </p:nvSpPr>
        <p:spPr>
          <a:xfrm>
            <a:off x="1141413" y="609600"/>
            <a:ext cx="9905998" cy="3036570"/>
          </a:xfrm>
        </p:spPr>
        <p:txBody>
          <a:bodyPr/>
          <a:lstStyle/>
          <a:p>
            <a:r>
              <a:rPr lang="en-IN" dirty="0"/>
              <a:t>                        </a:t>
            </a:r>
            <a:r>
              <a:rPr lang="en-IN" sz="6000" dirty="0"/>
              <a:t>THANK YOU</a:t>
            </a:r>
            <a:r>
              <a:rPr lang="en-IN" dirty="0"/>
              <a:t>  </a:t>
            </a:r>
          </a:p>
        </p:txBody>
      </p:sp>
      <p:sp>
        <p:nvSpPr>
          <p:cNvPr id="4" name="Date Placeholder 3">
            <a:extLst>
              <a:ext uri="{FF2B5EF4-FFF2-40B4-BE49-F238E27FC236}">
                <a16:creationId xmlns:a16="http://schemas.microsoft.com/office/drawing/2014/main" id="{59B44E96-226C-B5A6-C872-52FE30DC8FE6}"/>
              </a:ext>
            </a:extLst>
          </p:cNvPr>
          <p:cNvSpPr>
            <a:spLocks noGrp="1"/>
          </p:cNvSpPr>
          <p:nvPr>
            <p:ph type="dt" sz="half" idx="10"/>
          </p:nvPr>
        </p:nvSpPr>
        <p:spPr/>
        <p:txBody>
          <a:bodyPr/>
          <a:lstStyle/>
          <a:p>
            <a:fld id="{07DE2E10-B9C9-4696-8C2C-567691D9BBFD}" type="datetime1">
              <a:rPr lang="en-IN" smtClean="0"/>
              <a:t>22-09-26</a:t>
            </a:fld>
            <a:endParaRPr lang="en-IN"/>
          </a:p>
        </p:txBody>
      </p:sp>
      <p:sp>
        <p:nvSpPr>
          <p:cNvPr id="5" name="Slide Number Placeholder 4">
            <a:extLst>
              <a:ext uri="{FF2B5EF4-FFF2-40B4-BE49-F238E27FC236}">
                <a16:creationId xmlns:a16="http://schemas.microsoft.com/office/drawing/2014/main" id="{BB9C178F-9000-2E13-074C-FA509C3CC0F0}"/>
              </a:ext>
            </a:extLst>
          </p:cNvPr>
          <p:cNvSpPr>
            <a:spLocks noGrp="1"/>
          </p:cNvSpPr>
          <p:nvPr>
            <p:ph type="sldNum" sz="quarter" idx="12"/>
          </p:nvPr>
        </p:nvSpPr>
        <p:spPr/>
        <p:txBody>
          <a:bodyPr/>
          <a:lstStyle/>
          <a:p>
            <a:fld id="{CB012AB6-14AF-4351-87AD-D420B05274E1}" type="slidenum">
              <a:rPr lang="en-IN" smtClean="0"/>
              <a:t>11</a:t>
            </a:fld>
            <a:endParaRPr lang="en-IN"/>
          </a:p>
        </p:txBody>
      </p:sp>
      <p:sp>
        <p:nvSpPr>
          <p:cNvPr id="7" name="Content Placeholder 6">
            <a:extLst>
              <a:ext uri="{FF2B5EF4-FFF2-40B4-BE49-F238E27FC236}">
                <a16:creationId xmlns:a16="http://schemas.microsoft.com/office/drawing/2014/main" id="{52281FED-688F-A3BE-5886-D301F6E7C31F}"/>
              </a:ext>
            </a:extLst>
          </p:cNvPr>
          <p:cNvSpPr>
            <a:spLocks noGrp="1"/>
          </p:cNvSpPr>
          <p:nvPr>
            <p:ph idx="1"/>
          </p:nvPr>
        </p:nvSpPr>
        <p:spPr>
          <a:xfrm flipV="1">
            <a:off x="1141413" y="8485504"/>
            <a:ext cx="9905998" cy="281306"/>
          </a:xfrm>
        </p:spPr>
        <p:txBody>
          <a:bodyPr>
            <a:normAutofit fontScale="70000" lnSpcReduction="20000"/>
          </a:bodyPr>
          <a:lstStyle/>
          <a:p>
            <a:endParaRPr lang="en-IN" dirty="0"/>
          </a:p>
        </p:txBody>
      </p:sp>
    </p:spTree>
    <p:extLst>
      <p:ext uri="{BB962C8B-B14F-4D97-AF65-F5344CB8AC3E}">
        <p14:creationId xmlns:p14="http://schemas.microsoft.com/office/powerpoint/2010/main" val="1207312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179</TotalTime>
  <Words>980</Words>
  <Application>Microsoft Office PowerPoint</Application>
  <PresentationFormat>Widescreen</PresentationFormat>
  <Paragraphs>93</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Century Gothic</vt:lpstr>
      <vt:lpstr>Mesh</vt:lpstr>
      <vt:lpstr>Restaurant Order, Kitchen &amp; Billing System</vt:lpstr>
      <vt:lpstr>Abstract</vt:lpstr>
      <vt:lpstr>Understanding Problem Statement</vt:lpstr>
      <vt:lpstr>CO 1 Topics</vt:lpstr>
      <vt:lpstr>PowerPoint Presentation</vt:lpstr>
      <vt:lpstr>Co 2 TOPICS</vt:lpstr>
      <vt:lpstr>PowerPoint Presentation</vt:lpstr>
      <vt:lpstr>CO 3 Topics</vt:lpstr>
      <vt:lpstr>PowerPoint Presentation</vt:lpstr>
      <vt:lpstr>Geo Tag Photo and git hub link</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Mahitha Chowdary</cp:lastModifiedBy>
  <cp:revision>5</cp:revision>
  <dcterms:created xsi:type="dcterms:W3CDTF">2026-09-15T09:57:10Z</dcterms:created>
  <dcterms:modified xsi:type="dcterms:W3CDTF">2026-09-22T05:53:22Z</dcterms:modified>
</cp:coreProperties>
</file>